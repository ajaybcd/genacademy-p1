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4d963549da4238" /><Relationship Type="http://schemas.openxmlformats.org/officeDocument/2006/relationships/extended-properties" Target="/docProps/app.xml" Id="R491d6622dd594a67" /><Relationship Type="http://schemas.openxmlformats.org/officeDocument/2006/relationships/officeDocument" Target="/ppt/presentation.xml" Id="R05dee1dfed184b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1cc7e65f2349f8"/>
  </p:sldMasterIdLst>
  <p:notesMasterIdLst>
    <p:notesMasterId xmlns:r="http://schemas.openxmlformats.org/officeDocument/2006/relationships" r:id="Ra941fcc7b3a641a1"/>
  </p:notesMasterIdLst>
  <p:sldIdLst>
    <p:sldId xmlns:r="http://schemas.openxmlformats.org/officeDocument/2006/relationships" id="256" r:id="Rff26d40b445f43a2"/>
    <p:sldId xmlns:r="http://schemas.openxmlformats.org/officeDocument/2006/relationships" id="257" r:id="Re360da0a6aa64799"/>
    <p:sldId xmlns:r="http://schemas.openxmlformats.org/officeDocument/2006/relationships" id="258" r:id="R4dd6d16d749c4e00"/>
    <p:sldId xmlns:r="http://schemas.openxmlformats.org/officeDocument/2006/relationships" id="259" r:id="R1152e6269efb4535"/>
    <p:sldId xmlns:r="http://schemas.openxmlformats.org/officeDocument/2006/relationships" id="260" r:id="Re77959571a9b4cb8"/>
    <p:sldId xmlns:r="http://schemas.openxmlformats.org/officeDocument/2006/relationships" id="261" r:id="Red53b9d57c994cb3"/>
    <p:sldId xmlns:r="http://schemas.openxmlformats.org/officeDocument/2006/relationships" id="262" r:id="Rc1e026e99fdb4cbe"/>
    <p:sldId xmlns:r="http://schemas.openxmlformats.org/officeDocument/2006/relationships" id="263" r:id="R17eccfa5980b4abb"/>
    <p:sldId xmlns:r="http://schemas.openxmlformats.org/officeDocument/2006/relationships" id="264" r:id="Rb99db3db051e423a"/>
    <p:sldId xmlns:r="http://schemas.openxmlformats.org/officeDocument/2006/relationships" id="265" r:id="Ref5753615cbd49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12711086e545a5" /><Relationship Type="http://schemas.openxmlformats.org/officeDocument/2006/relationships/slideMaster" Target="/ppt/slideMasters/slideMaster1.xml" Id="R671cc7e65f2349f8" /><Relationship Type="http://schemas.openxmlformats.org/officeDocument/2006/relationships/notesMaster" Target="/ppt/notesMasters/notesMaster1.xml" Id="Ra941fcc7b3a641a1" /><Relationship Type="http://schemas.openxmlformats.org/officeDocument/2006/relationships/presProps" Target="/ppt/presProps.xml" Id="Rf843cdee3d7d407f" /><Relationship Type="http://schemas.openxmlformats.org/officeDocument/2006/relationships/tableStyles" Target="/ppt/tableStyles.xml" Id="Rb1f35b3803d3483f" /><Relationship Type="http://schemas.openxmlformats.org/officeDocument/2006/relationships/slide" Target="/ppt/slides/slide1.xml" Id="Rff26d40b445f43a2" /><Relationship Type="http://schemas.openxmlformats.org/officeDocument/2006/relationships/slide" Target="/ppt/slides/slide2.xml" Id="Re360da0a6aa64799" /><Relationship Type="http://schemas.openxmlformats.org/officeDocument/2006/relationships/slide" Target="/ppt/slides/slide3.xml" Id="R4dd6d16d749c4e00" /><Relationship Type="http://schemas.openxmlformats.org/officeDocument/2006/relationships/slide" Target="/ppt/slides/slide4.xml" Id="R1152e6269efb4535" /><Relationship Type="http://schemas.openxmlformats.org/officeDocument/2006/relationships/slide" Target="/ppt/slides/slide5.xml" Id="Re77959571a9b4cb8" /><Relationship Type="http://schemas.openxmlformats.org/officeDocument/2006/relationships/slide" Target="/ppt/slides/slide6.xml" Id="Red53b9d57c994cb3" /><Relationship Type="http://schemas.openxmlformats.org/officeDocument/2006/relationships/slide" Target="/ppt/slides/slide7.xml" Id="Rc1e026e99fdb4cbe" /><Relationship Type="http://schemas.openxmlformats.org/officeDocument/2006/relationships/slide" Target="/ppt/slides/slide8.xml" Id="R17eccfa5980b4abb" /><Relationship Type="http://schemas.openxmlformats.org/officeDocument/2006/relationships/slide" Target="/ppt/slides/slide9.xml" Id="Rb99db3db051e423a" /><Relationship Type="http://schemas.openxmlformats.org/officeDocument/2006/relationships/slide" Target="/ppt/slides/slide10.xml" Id="Ref5753615cbd49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ea803870db48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8468127125451b" /><Relationship Type="http://schemas.openxmlformats.org/officeDocument/2006/relationships/notesMaster" Target="/ppt/notesMasters/notesMaster1.xml" Id="R3df57edcec8841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fe793340ab4ccb" /><Relationship Type="http://schemas.openxmlformats.org/officeDocument/2006/relationships/notesMaster" Target="/ppt/notesMasters/notesMaster1.xml" Id="Rf2313b7946634e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5625be4dcd4206" /><Relationship Type="http://schemas.openxmlformats.org/officeDocument/2006/relationships/notesMaster" Target="/ppt/notesMasters/notesMaster1.xml" Id="Rf9e80551cb8d47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6cd1c160ce401f" /><Relationship Type="http://schemas.openxmlformats.org/officeDocument/2006/relationships/notesMaster" Target="/ppt/notesMasters/notesMaster1.xml" Id="R41b7bb893acd43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fc5d8609714e77" /><Relationship Type="http://schemas.openxmlformats.org/officeDocument/2006/relationships/notesMaster" Target="/ppt/notesMasters/notesMaster1.xml" Id="R84dea1d1e78f47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dc0947557b4040" /><Relationship Type="http://schemas.openxmlformats.org/officeDocument/2006/relationships/notesMaster" Target="/ppt/notesMasters/notesMaster1.xml" Id="R1b831cab12f542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9bae526fa243af" /><Relationship Type="http://schemas.openxmlformats.org/officeDocument/2006/relationships/notesMaster" Target="/ppt/notesMasters/notesMaster1.xml" Id="R69d8793af7be42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3a2c26d66c47de" /><Relationship Type="http://schemas.openxmlformats.org/officeDocument/2006/relationships/notesMaster" Target="/ppt/notesMasters/notesMaster1.xml" Id="R20da1b41069c45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a3bcde55b74a6d" /><Relationship Type="http://schemas.openxmlformats.org/officeDocument/2006/relationships/notesMaster" Target="/ppt/notesMasters/notesMaster1.xml" Id="R42efbbe0716b45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65f0430f824e81" /><Relationship Type="http://schemas.openxmlformats.org/officeDocument/2006/relationships/notesMaster" Target="/ppt/notesMasters/notesMaster1.xml" Id="R132c2fa406344b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1577078674407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876f115c0b449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52f926b81c498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74dda5faa24f3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a8327cb71248e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458ebab7dd4d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CFBAD8-7D72-40FF-938B-49D81C3CEB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657517-F369-46A5-95AD-63B2CD4B8B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C583DC4-9DC5-43D7-8FF0-C47F871577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C1B0B6-7EE1-4DD3-9446-E03B46E8E0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3FB384B-DFE2-420F-AD07-F6C9C1BE52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E62E968-1D18-46E5-9363-C98BE5EFBD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B54BF8E-063A-4E73-8E7E-E8C687A60A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734D9F1-2C73-4050-A42D-CAC6D9DE6F2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569041-DC23-45D7-9365-94F57D2B35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817406F-4CC1-443F-B571-B91116AD21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c3978c83994e60" /><Relationship Type="http://schemas.openxmlformats.org/officeDocument/2006/relationships/slideLayout" Target="/ppt/slideLayouts/slideLayout1.xml" Id="Rb704edec14014776" /><Relationship Type="http://schemas.openxmlformats.org/officeDocument/2006/relationships/slideLayout" Target="/ppt/slideLayouts/slideLayout2.xml" Id="Rcc827932197d4766" /><Relationship Type="http://schemas.openxmlformats.org/officeDocument/2006/relationships/slideLayout" Target="/ppt/slideLayouts/slideLayout3.xml" Id="Rb0ad148ae6b94821" /><Relationship Type="http://schemas.openxmlformats.org/officeDocument/2006/relationships/slideLayout" Target="/ppt/slideLayouts/slideLayout4.xml" Id="R78b3a6a9c05945bb" /><Relationship Type="http://schemas.openxmlformats.org/officeDocument/2006/relationships/slideLayout" Target="/ppt/slideLayouts/slideLayout5.xml" Id="R2c006b82a50d46d6" /><Relationship Type="http://schemas.openxmlformats.org/officeDocument/2006/relationships/slideLayout" Target="/ppt/slideLayouts/slideLayout6.xml" Id="R53e1c24589c440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04edec14014776"/>
    <p:sldLayoutId xmlns:r="http://schemas.openxmlformats.org/officeDocument/2006/relationships" id="2147483650" r:id="Rcc827932197d4766"/>
    <p:sldLayoutId xmlns:r="http://schemas.openxmlformats.org/officeDocument/2006/relationships" id="2147483651" r:id="Rb0ad148ae6b94821"/>
    <p:sldLayoutId xmlns:r="http://schemas.openxmlformats.org/officeDocument/2006/relationships" id="2147483652" r:id="R78b3a6a9c05945bb"/>
    <p:sldLayoutId xmlns:r="http://schemas.openxmlformats.org/officeDocument/2006/relationships" id="2147483653" r:id="R2c006b82a50d46d6"/>
    <p:sldLayoutId xmlns:r="http://schemas.openxmlformats.org/officeDocument/2006/relationships" id="2147483654" r:id="R53e1c24589c440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877f786a0e4e57" /><Relationship Type="http://schemas.openxmlformats.org/officeDocument/2006/relationships/notesSlide" Target="/ppt/notesSlides/notesSlide1.xml" Id="R90a4098654bf44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5cf91cb31e497c" /><Relationship Type="http://schemas.openxmlformats.org/officeDocument/2006/relationships/notesSlide" Target="/ppt/notesSlides/notesSlide2.xml" Id="Rfbb968b310db4f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efef894cab41ae" /><Relationship Type="http://schemas.openxmlformats.org/officeDocument/2006/relationships/notesSlide" Target="/ppt/notesSlides/notesSlide3.xml" Id="R74ae07dc27bb46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c84adc67294cae" /><Relationship Type="http://schemas.openxmlformats.org/officeDocument/2006/relationships/notesSlide" Target="/ppt/notesSlides/notesSlide4.xml" Id="R78592936ae9640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35341782d34155" /><Relationship Type="http://schemas.openxmlformats.org/officeDocument/2006/relationships/notesSlide" Target="/ppt/notesSlides/notesSlide5.xml" Id="Rb94f5de8401a4b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62ea4df8a14709" /><Relationship Type="http://schemas.openxmlformats.org/officeDocument/2006/relationships/notesSlide" Target="/ppt/notesSlides/notesSlide6.xml" Id="Rc9e2bbba292e40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ad1d0e63a248f4" /><Relationship Type="http://schemas.openxmlformats.org/officeDocument/2006/relationships/notesSlide" Target="/ppt/notesSlides/notesSlide7.xml" Id="R92c2b01afbe64b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fb7f88dafc4edb" /><Relationship Type="http://schemas.openxmlformats.org/officeDocument/2006/relationships/notesSlide" Target="/ppt/notesSlides/notesSlide8.xml" Id="Re18d5ac2df874a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2a40e20bae482c" /><Relationship Type="http://schemas.openxmlformats.org/officeDocument/2006/relationships/notesSlide" Target="/ppt/notesSlides/notesSlide9.xml" Id="R62f6c8a3cc5e42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cc6ad5d3e243ff" /><Relationship Type="http://schemas.openxmlformats.org/officeDocument/2006/relationships/notesSlide" Target="/ppt/notesSlides/notesSlide10.xml" Id="Re6a91ae8cde548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656CC4-F8BB-4A9D-A475-F3C62EC3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1">
                <a:solidFill>
                  <a:srgbClr val="4ED4E8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4ED4E8"/>
                </a:solidFill>
              </a:defRPr>
            </a:pPr>
            <a:r>
              <a:rPr sz="975" b="1">
                <a:solidFill>
                  <a:srgbClr val="4ED4E8"/>
                </a:solidFill>
              </a:rPr>
              <a:t>VIDEO PRESENTATION SCRIPT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42F0D-2216-4D59-B0EE-FE175547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191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4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Portfolio 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A73ED-866D-4027-8E4F-8812BCF7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C7D8E8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C7D8E8"/>
                </a:solidFill>
              </a:defRPr>
            </a:pPr>
            <a:r>
              <a:rPr sz="1875" b="0">
                <a:solidFill>
                  <a:srgbClr val="C7D8E8"/>
                </a:solidFill>
              </a:rPr>
              <a:t>A guided tour of the stock portfolio dashboard, its prompts, setup, and visualizations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DECB9-BF6E-4441-9DB8-2D5CC865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76350"/>
            <a:ext cx="2333625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11305B"/>
          </a:solidFill>
          <a:ln xmlns:a="http://schemas.openxmlformats.org/drawingml/2006/main" w="0">
            <a:solidFill>
              <a:srgbClr val="1130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BBC22-D421-4551-9F84-4EC2F23F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75260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750" b="1">
                <a:solidFill>
                  <a:srgbClr val="4ED4E8"/>
                </a:solidFill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4ED4E8"/>
                </a:solidFill>
              </a:defRPr>
            </a:pPr>
            <a:r>
              <a:rPr sz="3750" b="1">
                <a:solidFill>
                  <a:srgbClr val="4ED4E8"/>
                </a:solidFill>
              </a:rPr>
              <a:t>$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55022-C6D4-4F2D-B167-820A2828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Investor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EC09D1-9893-42C2-8490-848329DE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C7D8E8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7D8E8"/>
                </a:solidFill>
              </a:defRPr>
            </a:pPr>
            <a:r>
              <a:rPr sz="1200" b="0">
                <a:solidFill>
                  <a:srgbClr val="C7D8E8"/>
                </a:solidFill>
              </a:rPr>
              <a:t>Built with Python, Streamlit, yfinance, Plotly, and optional Groq AI</a:t>
            </a:r>
          </a:p>
        </p:txBody>
      </p:sp>
    </p:spTree>
    <p:extLst>
      <p:ext uri="{BB962C8B-B14F-4D97-AF65-F5344CB8AC3E}">
        <p14:creationId xmlns:p14="http://schemas.microsoft.com/office/powerpoint/2010/main" val="6578012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C084E0-F3CC-4759-B4D8-9E609216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B75BC"/>
                </a:solidFill>
              </a:defRPr>
            </a:pPr>
            <a:r>
              <a:rPr sz="900" b="1">
                <a:solidFill>
                  <a:srgbClr val="1B75BC"/>
                </a:solidFill>
              </a:rPr>
              <a:t>PORTFOLIO 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D0C41-798E-4BD7-A1B9-E9A6DD4F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23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4B607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4B6075"/>
                </a:solidFill>
              </a:defRPr>
            </a:pPr>
            <a:r>
              <a:rPr sz="900" b="1">
                <a:solidFill>
                  <a:srgbClr val="4B6075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81A5C-A384-456D-B46B-8EE48336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625" b="1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F1F35"/>
                </a:solidFill>
              </a:defRPr>
            </a:pPr>
            <a:r>
              <a:rPr sz="2625" b="1">
                <a:solidFill>
                  <a:srgbClr val="0F1F35"/>
                </a:solidFill>
              </a:rPr>
              <a:t>The investor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1A242-244F-49E7-9585-B8171725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4B607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B6075"/>
                </a:solidFill>
              </a:defRPr>
            </a:pPr>
            <a:r>
              <a:rPr sz="1350" b="0">
                <a:solidFill>
                  <a:srgbClr val="4B6075"/>
                </a:solidFill>
              </a:rPr>
              <a:t>Transaction history does not automatically explain what remains in the portfolio.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42896-ADE0-45F5-835D-982DB8D7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08204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solidFill>
              <a:srgbClr val="EAF4F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9824B-1AC4-4A37-8778-36EAACCB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B75BC"/>
                </a:solidFill>
              </a:defRPr>
            </a:pPr>
            <a:r>
              <a:rPr sz="1650" b="1">
                <a:solidFill>
                  <a:srgbClr val="1B75BC"/>
                </a:solidFill>
              </a:rPr>
              <a:t>What comes 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D7083-9841-4713-B204-5162B89B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812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B75BC"/>
                </a:solidFill>
              </a:defRPr>
            </a:pPr>
            <a:r>
              <a:rPr sz="1650" b="1">
                <a:solidFill>
                  <a:srgbClr val="1B75BC"/>
                </a:solidFill>
              </a:rPr>
              <a:t>What the app calculates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9BB61-359B-4EC5-BA65-53C55F76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B75BC"/>
                </a:solidFill>
              </a:defRPr>
            </a:pPr>
            <a:r>
              <a:rPr sz="1650" b="1">
                <a:solidFill>
                  <a:srgbClr val="1B75BC"/>
                </a:solidFill>
              </a:rPr>
              <a:t>What the investor sees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04F70B-0111-40F8-ABA5-921CECB2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0F1F35"/>
                </a:solidFill>
              </a:defRPr>
            </a:pPr>
            <a:r>
              <a:rPr sz="1575" b="0">
                <a:solidFill>
                  <a:srgbClr val="0F1F35"/>
                </a:solidFill>
              </a:rPr>
              <a:t>Purchases and sales</a:t>
            </a:r>
          </a:p>
          <a:p xmlns:a="http://schemas.openxmlformats.org/drawingml/2006/main">
            <a:pPr>
              <a:defRPr sz="1575" b="0">
                <a:solidFill>
                  <a:srgbClr val="0F1F35"/>
                </a:solidFill>
              </a:defRPr>
            </a:pPr>
            <a:r>
              <a:rPr sz="1575" b="0">
                <a:solidFill>
                  <a:srgbClr val="0F1F35"/>
                </a:solidFill>
              </a:rPr>
              <a:t>Dates, tickers, quantities</a:t>
            </a:r>
          </a:p>
          <a:p xmlns:a="http://schemas.openxmlformats.org/drawingml/2006/main">
            <a:pPr>
              <a:defRPr sz="1575" b="0">
                <a:solidFill>
                  <a:srgbClr val="0F1F35"/>
                </a:solidFill>
              </a:defRPr>
            </a:pPr>
            <a:r>
              <a:rPr sz="1575" b="0">
                <a:solidFill>
                  <a:srgbClr val="0F1F35"/>
                </a:solidFill>
              </a:rPr>
              <a:t>Prices and fees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939D42-AD74-43CB-917D-F4145DF1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09900"/>
            <a:ext cx="2714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0F1F35"/>
                </a:solidFill>
              </a:defRPr>
            </a:pPr>
            <a:r>
              <a:rPr sz="1575" b="0">
                <a:solidFill>
                  <a:srgbClr val="0F1F35"/>
                </a:solidFill>
              </a:rPr>
              <a:t>FIFO holdings</a:t>
            </a:r>
          </a:p>
          <a:p xmlns:a="http://schemas.openxmlformats.org/drawingml/2006/main">
            <a:pPr>
              <a:defRPr sz="1575" b="0">
                <a:solidFill>
                  <a:srgbClr val="0F1F35"/>
                </a:solidFill>
              </a:defRPr>
            </a:pPr>
            <a:r>
              <a:rPr sz="1575" b="0">
                <a:solidFill>
                  <a:srgbClr val="0F1F35"/>
                </a:solidFill>
              </a:rPr>
              <a:t>Current value and gains</a:t>
            </a:r>
          </a:p>
          <a:p xmlns:a="http://schemas.openxmlformats.org/drawingml/2006/main">
            <a:pPr>
              <a:defRPr sz="1575" b="0">
                <a:solidFill>
                  <a:srgbClr val="0F1F35"/>
                </a:solidFill>
              </a:defRPr>
            </a:pPr>
            <a:r>
              <a:rPr sz="1575" b="0">
                <a:solidFill>
                  <a:srgbClr val="0F1F35"/>
                </a:solidFill>
              </a:rPr>
              <a:t>Return and XIRR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10012-418D-4CED-A902-758CA32F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990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0F1F35"/>
                </a:solidFill>
              </a:defRPr>
            </a:pPr>
            <a:r>
              <a:rPr sz="1575" b="0">
                <a:solidFill>
                  <a:srgbClr val="0F1F35"/>
                </a:solidFill>
              </a:rPr>
              <a:t>Portfolio value</a:t>
            </a:r>
          </a:p>
          <a:p xmlns:a="http://schemas.openxmlformats.org/drawingml/2006/main">
            <a:pPr>
              <a:defRPr sz="1575" b="0">
                <a:solidFill>
                  <a:srgbClr val="0F1F35"/>
                </a:solidFill>
              </a:defRPr>
            </a:pPr>
            <a:r>
              <a:rPr sz="1575" b="0">
                <a:solidFill>
                  <a:srgbClr val="0F1F35"/>
                </a:solidFill>
              </a:rPr>
              <a:t>Concentration</a:t>
            </a:r>
          </a:p>
          <a:p xmlns:a="http://schemas.openxmlformats.org/drawingml/2006/main">
            <a:pPr>
              <a:defRPr sz="1575" b="0">
                <a:solidFill>
                  <a:srgbClr val="0F1F35"/>
                </a:solidFill>
              </a:defRPr>
            </a:pPr>
            <a:r>
              <a:rPr sz="1575" b="0">
                <a:solidFill>
                  <a:srgbClr val="0F1F35"/>
                </a:solidFill>
              </a:rPr>
              <a:t>Performance charts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812EE-4914-4516-B054-44D7BFC2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750" b="0">
                <a:solidFill>
                  <a:srgbClr val="4B6075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4B6075"/>
                </a:solidFill>
              </a:defRPr>
            </a:pPr>
            <a:r>
              <a:rPr sz="750" b="0">
                <a:solidFill>
                  <a:srgbClr val="4B6075"/>
                </a:solidFill>
              </a:rPr>
              <a:t>Portfolio Lens walkthrough</a:t>
            </a:r>
          </a:p>
        </p:txBody>
      </p:sp>
    </p:spTree>
    <p:extLst>
      <p:ext uri="{BB962C8B-B14F-4D97-AF65-F5344CB8AC3E}">
        <p14:creationId xmlns:p14="http://schemas.microsoft.com/office/powerpoint/2010/main" val="10203932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7F9C53-C6BC-47B4-AD73-1F824E9C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B75BC"/>
                </a:solidFill>
              </a:defRPr>
            </a:pPr>
            <a:r>
              <a:rPr sz="900" b="1">
                <a:solidFill>
                  <a:srgbClr val="1B75BC"/>
                </a:solidFill>
              </a:rPr>
              <a:t>PORTFOLIO 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C1971-C4FB-4836-9260-327C51C8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23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4B607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4B6075"/>
                </a:solidFill>
              </a:defRPr>
            </a:pPr>
            <a:r>
              <a:rPr sz="900" b="1">
                <a:solidFill>
                  <a:srgbClr val="4B6075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70D2C-D3EE-41B9-9721-1FBBB1E0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625" b="1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F1F35"/>
                </a:solidFill>
              </a:defRPr>
            </a:pPr>
            <a:r>
              <a:rPr sz="2625" b="1">
                <a:solidFill>
                  <a:srgbClr val="0F1F35"/>
                </a:solidFill>
              </a:rPr>
              <a:t>What was installed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A657F8-6144-4B3A-BF2F-F3C94341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4B607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B6075"/>
                </a:solidFill>
              </a:defRPr>
            </a:pPr>
            <a:r>
              <a:rPr sz="1350" b="0">
                <a:solidFill>
                  <a:srgbClr val="4B6075"/>
                </a:solidFill>
              </a:rPr>
              <a:t>The app separates the user interface, accounting rules, market data, charts, and optional AI.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1FD6F-A231-476A-A33E-62A98F9C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095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solidFill>
              <a:srgbClr val="EAF4F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FCAC57-DE3F-44D2-B808-A609005E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B75BC"/>
                </a:solidFill>
              </a:defRPr>
            </a:pPr>
            <a:r>
              <a:rPr sz="1350" b="1">
                <a:solidFill>
                  <a:srgbClr val="1B75BC"/>
                </a:solidFill>
              </a:rPr>
              <a:t>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3E6C3-4F77-41BC-8F7C-809E93C9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6692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F1F35"/>
                </a:solidFill>
              </a:defRPr>
            </a:pPr>
            <a:r>
              <a:rPr sz="1350" b="0">
                <a:solidFill>
                  <a:srgbClr val="0F1F35"/>
                </a:solidFill>
              </a:rPr>
              <a:t>Runs the application and accounting logic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18338-77AC-4996-8401-CDF31E3C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2095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solidFill>
              <a:srgbClr val="EAF4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6A339E-A17C-4324-808E-0280DC08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B75BC"/>
                </a:solidFill>
              </a:defRPr>
            </a:pPr>
            <a:r>
              <a:rPr sz="1350" b="1">
                <a:solidFill>
                  <a:srgbClr val="1B75BC"/>
                </a:solidFill>
              </a:rPr>
              <a:t>Streamlit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28AAA5-8FC1-4A6B-B48E-CF01307C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3842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F1F35"/>
                </a:solidFill>
              </a:defRPr>
            </a:pPr>
            <a:r>
              <a:rPr sz="1350" b="0">
                <a:solidFill>
                  <a:srgbClr val="0F1F35"/>
                </a:solidFill>
              </a:rPr>
              <a:t>Creates the web interface, menus, upload controls, metric cards, and chat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8D842-688C-4FEF-AAF3-E7017320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2095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solidFill>
              <a:srgbClr val="EAF4F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A11B25-6037-44BF-AC96-464AECB1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B75BC"/>
                </a:solidFill>
              </a:defRPr>
            </a:pPr>
            <a:r>
              <a:rPr sz="1350" b="1">
                <a:solidFill>
                  <a:srgbClr val="1B75BC"/>
                </a:solidFill>
              </a:rPr>
              <a:t>pandas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D51036-2AD4-4917-8850-A39A846D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0992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F1F35"/>
                </a:solidFill>
              </a:defRPr>
            </a:pPr>
            <a:r>
              <a:rPr sz="1350" b="0">
                <a:solidFill>
                  <a:srgbClr val="0F1F35"/>
                </a:solidFill>
              </a:rPr>
              <a:t>Reads and shapes transaction and price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ED4956-1140-4098-912F-187205AB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2095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solidFill>
              <a:srgbClr val="EAF4F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081E6-EE6D-4C4C-984F-559923AC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B75BC"/>
                </a:solidFill>
              </a:defRPr>
            </a:pPr>
            <a:r>
              <a:rPr sz="1350" b="1">
                <a:solidFill>
                  <a:srgbClr val="1B75BC"/>
                </a:solidFill>
              </a:rPr>
              <a:t>yfinance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7D6785-EC38-44E8-A9F8-1AB31E9C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8142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F1F35"/>
                </a:solidFill>
              </a:defRPr>
            </a:pPr>
            <a:r>
              <a:rPr sz="1350" b="0">
                <a:solidFill>
                  <a:srgbClr val="0F1F35"/>
                </a:solidFill>
              </a:rPr>
              <a:t>Retrieves daily US equity price history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7659C7-C00B-4F94-BEA3-CB03A3D2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2095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solidFill>
              <a:srgbClr val="EAF4F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C3DAFA-00AA-4B74-8265-EA916462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B75BC"/>
                </a:solidFill>
              </a:defRPr>
            </a:pPr>
            <a:r>
              <a:rPr sz="1350" b="1">
                <a:solidFill>
                  <a:srgbClr val="1B75BC"/>
                </a:solidFill>
              </a:rPr>
              <a:t>Plotly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9F9645-9AD6-4C41-9242-8BC907B7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5292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F1F35"/>
                </a:solidFill>
              </a:defRPr>
            </a:pPr>
            <a:r>
              <a:rPr sz="1350" b="0">
                <a:solidFill>
                  <a:srgbClr val="0F1F35"/>
                </a:solidFill>
              </a:rPr>
              <a:t>Renders interactive allocation, performance, and top-five charts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087C64-41FB-46AA-9874-44ED4AC0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2095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solidFill>
              <a:srgbClr val="EAF4F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8AB2C0-4CAF-4B46-A66B-BCD43B04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339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B75BC"/>
                </a:solidFill>
              </a:defRPr>
            </a:pPr>
            <a:r>
              <a:rPr sz="1350" b="1">
                <a:solidFill>
                  <a:srgbClr val="1B75BC"/>
                </a:solidFill>
              </a:rPr>
              <a:t>Groq SDK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231137-7E80-4AAA-A084-938C471E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92442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F1F35"/>
                </a:solidFill>
              </a:defRPr>
            </a:pPr>
            <a:r>
              <a:rPr sz="1350" b="0">
                <a:solidFill>
                  <a:srgbClr val="0F1F35"/>
                </a:solidFill>
              </a:rPr>
              <a:t>Creates optional portfolio summaries and chat responses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56C4D9-43BE-4C0F-8A7E-7B1DF5AA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750" b="0">
                <a:solidFill>
                  <a:srgbClr val="4B6075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4B6075"/>
                </a:solidFill>
              </a:defRPr>
            </a:pPr>
            <a:r>
              <a:rPr sz="750" b="0">
                <a:solidFill>
                  <a:srgbClr val="4B6075"/>
                </a:solidFill>
              </a:rPr>
              <a:t>Portfolio Lens walkthrough</a:t>
            </a:r>
          </a:p>
        </p:txBody>
      </p:sp>
    </p:spTree>
    <p:extLst>
      <p:ext uri="{BB962C8B-B14F-4D97-AF65-F5344CB8AC3E}">
        <p14:creationId xmlns:p14="http://schemas.microsoft.com/office/powerpoint/2010/main" val="77523612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A1B6C8-9A2F-41F9-9E9E-C0466211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B75BC"/>
                </a:solidFill>
              </a:defRPr>
            </a:pPr>
            <a:r>
              <a:rPr sz="900" b="1">
                <a:solidFill>
                  <a:srgbClr val="1B75BC"/>
                </a:solidFill>
              </a:rPr>
              <a:t>PORTFOLIO 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6589F-ED8A-4C38-BB1A-F2BB83A0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23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4B607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4B6075"/>
                </a:solidFill>
              </a:defRPr>
            </a:pPr>
            <a:r>
              <a:rPr sz="900" b="1">
                <a:solidFill>
                  <a:srgbClr val="4B6075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FBE37D-A432-41AE-9AAC-CAF2E51E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625" b="1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F1F35"/>
                </a:solidFill>
              </a:defRPr>
            </a:pPr>
            <a:r>
              <a:rPr sz="2625" b="1">
                <a:solidFill>
                  <a:srgbClr val="0F1F35"/>
                </a:solidFill>
              </a:rPr>
              <a:t>The five prompts used to build the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B2699-C075-48B2-A231-ACE191DC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4B607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B6075"/>
                </a:solidFill>
              </a:defRPr>
            </a:pPr>
            <a:r>
              <a:rPr sz="1350" b="0">
                <a:solidFill>
                  <a:srgbClr val="4B6075"/>
                </a:solidFill>
              </a:rPr>
              <a:t>Each prompt adds one layer while preserving the earlier behavior.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4FBC3-2E3F-4B28-B1E1-EFF9CA93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B75BC"/>
          </a:solidFill>
          <a:ln xmlns:a="http://schemas.openxmlformats.org/drawingml/2006/main" w="0">
            <a:solidFill>
              <a:srgbClr val="1B75B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4B53EA-D950-4D0A-B8F4-69C4DA5C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90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0B6FF4-C07D-45E8-8C74-11420505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050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F1F35"/>
                </a:solidFill>
              </a:defRPr>
            </a:pPr>
            <a:r>
              <a:rPr sz="1500" b="1">
                <a:solidFill>
                  <a:srgbClr val="0F1F35"/>
                </a:solidFill>
              </a:rPr>
              <a:t>Foundation and CSV 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72CDF-F3B3-434A-91E3-7493B5F7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91452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4B607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B6075"/>
                </a:solidFill>
              </a:defRPr>
            </a:pPr>
            <a:r>
              <a:rPr sz="1200" b="0">
                <a:solidFill>
                  <a:srgbClr val="4B6075"/>
                </a:solidFill>
              </a:rPr>
              <a:t>Create the file structure, sample CSV, uploader, demo, validation, and basic tests.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A23AB-E07C-4126-8BA9-91E41C70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B75BC"/>
          </a:solidFill>
          <a:ln xmlns:a="http://schemas.openxmlformats.org/drawingml/2006/main" w="0">
            <a:solidFill>
              <a:srgbClr val="1B75B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354D6-43F1-42F5-B43E-E687FE99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717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57B625-2A29-42EB-AAA7-31CA6414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860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F1F35"/>
                </a:solidFill>
              </a:defRPr>
            </a:pPr>
            <a:r>
              <a:rPr sz="1500" b="1">
                <a:solidFill>
                  <a:srgbClr val="0F1F35"/>
                </a:solidFill>
              </a:rPr>
              <a:t>FIFO accounting and return metrics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ACE780-3FA2-41D3-98BA-0169AD47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69557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4B607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B6075"/>
                </a:solidFill>
              </a:defRPr>
            </a:pPr>
            <a:r>
              <a:rPr sz="1200" b="0">
                <a:solidFill>
                  <a:srgbClr val="4B6075"/>
                </a:solidFill>
              </a:rPr>
              <a:t>Add lots, fees, gains, total return, XIRR, and accounting tests.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6DE96A-B9BA-4341-82CB-96F34A93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B75BC"/>
          </a:solidFill>
          <a:ln xmlns:a="http://schemas.openxmlformats.org/drawingml/2006/main" w="0">
            <a:solidFill>
              <a:srgbClr val="1B75B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2C9F98-4A36-4010-A5F1-E8D9B395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528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D81DCB-41F6-45B7-87F2-AB0DE36C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671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F1F35"/>
                </a:solidFill>
              </a:defRPr>
            </a:pPr>
            <a:r>
              <a:rPr sz="1500" b="1">
                <a:solidFill>
                  <a:srgbClr val="0F1F35"/>
                </a:solidFill>
              </a:rPr>
              <a:t>Market data and overview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002A91-E581-43C5-840E-F19F7C99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47662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4B607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B6075"/>
                </a:solidFill>
              </a:defRPr>
            </a:pPr>
            <a:r>
              <a:rPr sz="1200" b="0">
                <a:solidFill>
                  <a:srgbClr val="4B6075"/>
                </a:solidFill>
              </a:rPr>
              <a:t>Fetch prices, show holdings, chips, top-five bar chart, allocation, and offline demo.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42D62A-015B-489B-BEFF-2BE5692E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B75BC"/>
          </a:solidFill>
          <a:ln xmlns:a="http://schemas.openxmlformats.org/drawingml/2006/main" w="0">
            <a:solidFill>
              <a:srgbClr val="1B75B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51073B-512C-4B78-807A-47021BC6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338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E4299B-6D1F-42D2-9968-0EB871B1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481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F1F35"/>
                </a:solidFill>
              </a:defRPr>
            </a:pPr>
            <a:r>
              <a:rPr sz="1500" b="1">
                <a:solidFill>
                  <a:srgbClr val="0F1F35"/>
                </a:solidFill>
              </a:rPr>
              <a:t>Historical performance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E775EC-E5E6-4585-960A-9443D0DC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25767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4B607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B6075"/>
                </a:solidFill>
              </a:defRPr>
            </a:pPr>
            <a:r>
              <a:rPr sz="1200" b="0">
                <a:solidFill>
                  <a:srgbClr val="4B6075"/>
                </a:solidFill>
              </a:rPr>
              <a:t>Add investment and sale metrics, valuation history, methodology, and limitations.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D90E00-5192-4A61-851A-05937D42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B75BC"/>
          </a:solidFill>
          <a:ln xmlns:a="http://schemas.openxmlformats.org/drawingml/2006/main" w="0">
            <a:solidFill>
              <a:srgbClr val="1B75B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881D75-F975-4B8D-A30F-AAE16145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149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3D2D12-D6E9-4EA3-B3E4-AABF60AB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292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F1F35"/>
                </a:solidFill>
              </a:defRPr>
            </a:pPr>
            <a:r>
              <a:rPr sz="1500" b="1">
                <a:solidFill>
                  <a:srgbClr val="0F1F35"/>
                </a:solidFill>
              </a:rPr>
              <a:t>Secure Groq analyst and deployment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3E7714-AB24-4858-BF6E-660576BF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03872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4B607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B6075"/>
                </a:solidFill>
              </a:defRPr>
            </a:pPr>
            <a:r>
              <a:rPr sz="1200" b="0">
                <a:solidFill>
                  <a:srgbClr val="4B6075"/>
                </a:solidFill>
              </a:rPr>
              <a:t>Add optional summary and chat, secret handling, README, and deployment checks.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558666-63A3-4E5E-9651-8E281D59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750" b="0">
                <a:solidFill>
                  <a:srgbClr val="4B6075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4B6075"/>
                </a:solidFill>
              </a:defRPr>
            </a:pPr>
            <a:r>
              <a:rPr sz="750" b="0">
                <a:solidFill>
                  <a:srgbClr val="4B6075"/>
                </a:solidFill>
              </a:rPr>
              <a:t>Portfolio Lens walkthrough</a:t>
            </a:r>
          </a:p>
        </p:txBody>
      </p:sp>
    </p:spTree>
    <p:extLst>
      <p:ext uri="{BB962C8B-B14F-4D97-AF65-F5344CB8AC3E}">
        <p14:creationId xmlns:p14="http://schemas.microsoft.com/office/powerpoint/2010/main" val="154664445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640029-ACD9-42AB-83BD-91C6A3EF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B75BC"/>
                </a:solidFill>
              </a:defRPr>
            </a:pPr>
            <a:r>
              <a:rPr sz="900" b="1">
                <a:solidFill>
                  <a:srgbClr val="1B75BC"/>
                </a:solidFill>
              </a:rPr>
              <a:t>PORTFOLIO 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C77DB-5DCF-4F42-921D-A0DC6D8D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23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4B607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4B6075"/>
                </a:solidFill>
              </a:defRPr>
            </a:pPr>
            <a:r>
              <a:rPr sz="900" b="1">
                <a:solidFill>
                  <a:srgbClr val="4B6075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78CAE-BB53-45AF-BB8C-71762A04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625" b="1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F1F35"/>
                </a:solidFill>
              </a:defRPr>
            </a:pPr>
            <a:r>
              <a:rPr sz="2625" b="1">
                <a:solidFill>
                  <a:srgbClr val="0F1F35"/>
                </a:solidFill>
              </a:rPr>
              <a:t>App menus and navigation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075D9-D4FD-4E86-B877-3F61EFEF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4B607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B6075"/>
                </a:solidFill>
              </a:defRPr>
            </a:pPr>
            <a:r>
              <a:rPr sz="1350" b="0">
                <a:solidFill>
                  <a:srgbClr val="4B6075"/>
                </a:solidFill>
              </a:rPr>
              <a:t>The Streamlit layout groups the workflow into four tabs, with setup controls in the sidebar.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117EE4-68D6-439F-877B-B45FEEF5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2524125" cy="3714750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0E2A4C"/>
          </a:solidFill>
          <a:ln xmlns:a="http://schemas.openxmlformats.org/drawingml/2006/main" w="0">
            <a:solidFill>
              <a:srgbClr val="0E2A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4019A5-A897-4955-8E3F-EF882C1D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190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1">
                <a:solidFill>
                  <a:srgbClr val="4ED4E8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4ED4E8"/>
                </a:solidFill>
              </a:defRPr>
            </a:pPr>
            <a:r>
              <a:rPr sz="1125" b="1">
                <a:solidFill>
                  <a:srgbClr val="4ED4E8"/>
                </a:solidFill>
              </a:rPr>
              <a:t>SIDEBAR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498807-7887-4242-8D33-5B0B17CE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6670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Transaction CSV upload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ECFDFD-446F-40D0-9E22-DC9B4AFD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1623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Explore offline 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AC69B6-56C3-489F-B7B4-2BD3C0C1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6576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Download sample CSV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ADFF41-D29B-4ED8-8B9D-89FA9867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1529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Groq key and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2E202C-E200-4F7E-AD92-5FBB294E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6482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Refresh market prices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D3B349-ACE4-4197-9B43-E55598F8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52625"/>
            <a:ext cx="70008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solidFill>
              <a:srgbClr val="EAF4F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FFEB16-BB64-4D74-B420-7FB91281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859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B75BC"/>
                </a:solidFill>
              </a:defRPr>
            </a:pPr>
            <a:r>
              <a:rPr sz="1500" b="1">
                <a:solidFill>
                  <a:srgbClr val="1B75BC"/>
                </a:solidFill>
              </a:rPr>
              <a:t>Overview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733074-D108-43F6-B44D-63159B01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05025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0F1F35"/>
                </a:solidFill>
              </a:defRPr>
            </a:pPr>
            <a:r>
              <a:rPr sz="1275" b="0">
                <a:solidFill>
                  <a:srgbClr val="0F1F35"/>
                </a:solidFill>
              </a:rPr>
              <a:t>Holdings, chips, top-five bar chart, allocation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C9D532-6364-45CE-B037-C6324D06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90825"/>
            <a:ext cx="70008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solidFill>
              <a:srgbClr val="EAF4F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142E5D-2563-4E79-8033-F19423DF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241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B75BC"/>
                </a:solidFill>
              </a:defRPr>
            </a:pPr>
            <a:r>
              <a:rPr sz="1500" b="1">
                <a:solidFill>
                  <a:srgbClr val="1B75BC"/>
                </a:solidFill>
              </a:rPr>
              <a:t>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A20F2C-AB51-41D5-BFA6-4F1603D7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43225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0F1F35"/>
                </a:solidFill>
              </a:defRPr>
            </a:pPr>
            <a:r>
              <a:rPr sz="1275" b="0">
                <a:solidFill>
                  <a:srgbClr val="0F1F35"/>
                </a:solidFill>
              </a:rPr>
              <a:t>Investment, sale proceeds, return, XIRR, history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4B0CF5-0593-4756-AAF2-5FF638BD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29025"/>
            <a:ext cx="70008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solidFill>
              <a:srgbClr val="EAF4F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84CB24-B8BC-4867-90A0-9E4A9AA8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623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B75BC"/>
                </a:solidFill>
              </a:defRPr>
            </a:pPr>
            <a:r>
              <a:rPr sz="1500" b="1">
                <a:solidFill>
                  <a:srgbClr val="1B75BC"/>
                </a:solidFill>
              </a:rPr>
              <a:t>Transactions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FAE43D-2378-4260-B9D2-73FA6487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781425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0F1F35"/>
                </a:solidFill>
              </a:defRPr>
            </a:pPr>
            <a:r>
              <a:rPr sz="1275" b="0">
                <a:solidFill>
                  <a:srgbClr val="0F1F35"/>
                </a:solidFill>
              </a:rPr>
              <a:t>Validated rows in chronological order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1FD645-A187-412F-A2EB-964BFA17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67225"/>
            <a:ext cx="70008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solidFill>
              <a:srgbClr val="EAF4F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64CD7F-0D12-484F-8E48-76BF9965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005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B75BC"/>
                </a:solidFill>
              </a:defRPr>
            </a:pPr>
            <a:r>
              <a:rPr sz="1500" b="1">
                <a:solidFill>
                  <a:srgbClr val="1B75BC"/>
                </a:solidFill>
              </a:rPr>
              <a:t>AI analyst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92CF4F-427D-459F-811A-C0300DF5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619625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0F1F35"/>
                </a:solidFill>
              </a:defRPr>
            </a:pPr>
            <a:r>
              <a:rPr sz="1275" b="0">
                <a:solidFill>
                  <a:srgbClr val="0F1F35"/>
                </a:solidFill>
              </a:rPr>
              <a:t>Optional summary and grounded portfolio chat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EE1EA7-EC20-4B2E-A9DB-A0EC4885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750" b="0">
                <a:solidFill>
                  <a:srgbClr val="4B6075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4B6075"/>
                </a:solidFill>
              </a:defRPr>
            </a:pPr>
            <a:r>
              <a:rPr sz="750" b="0">
                <a:solidFill>
                  <a:srgbClr val="4B6075"/>
                </a:solidFill>
              </a:rPr>
              <a:t>Portfolio Lens walkthrough</a:t>
            </a:r>
          </a:p>
        </p:txBody>
      </p:sp>
    </p:spTree>
    <p:extLst>
      <p:ext uri="{BB962C8B-B14F-4D97-AF65-F5344CB8AC3E}">
        <p14:creationId xmlns:p14="http://schemas.microsoft.com/office/powerpoint/2010/main" val="771486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079E96-DA56-40D0-826D-572B3F8F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B75BC"/>
                </a:solidFill>
              </a:defRPr>
            </a:pPr>
            <a:r>
              <a:rPr sz="900" b="1">
                <a:solidFill>
                  <a:srgbClr val="1B75BC"/>
                </a:solidFill>
              </a:rPr>
              <a:t>PORTFOLIO 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4D2AB-E132-4E32-BD87-63A86AAE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23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4B607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4B6075"/>
                </a:solidFill>
              </a:defRPr>
            </a:pPr>
            <a:r>
              <a:rPr sz="900" b="1">
                <a:solidFill>
                  <a:srgbClr val="4B6075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D6F3DE-2A57-40B9-828E-AE78EB08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625" b="1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F1F35"/>
                </a:solidFill>
              </a:defRPr>
            </a:pPr>
            <a:r>
              <a:rPr sz="2625" b="1">
                <a:solidFill>
                  <a:srgbClr val="0F1F35"/>
                </a:solidFill>
              </a:rPr>
              <a:t>Uploading a transaction file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67608-DCCD-4DBA-A88B-EBB21AD7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4B607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B6075"/>
                </a:solidFill>
              </a:defRPr>
            </a:pPr>
            <a:r>
              <a:rPr sz="1350" b="0">
                <a:solidFill>
                  <a:srgbClr val="4B6075"/>
                </a:solidFill>
              </a:rPr>
              <a:t>The app accepts a simple CSV and rejects incomplete or unsafe records before it requests prices.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7F020-353A-4E8A-8C95-5CF193CF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953000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F5F8F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8F3FF0-3624-4E5A-AC8C-2819CDB5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352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B75BC"/>
                </a:solidFill>
              </a:defRPr>
            </a:pPr>
            <a:r>
              <a:rPr sz="1575" b="1">
                <a:solidFill>
                  <a:srgbClr val="1B75BC"/>
                </a:solidFill>
              </a:rPr>
              <a:t>CSV columns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1F2B4-DFA5-404A-82D9-2CB8AEF5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0F1F35"/>
                </a:solidFill>
              </a:defRPr>
            </a:pPr>
            <a:r>
              <a:rPr sz="1575" b="0">
                <a:solidFill>
                  <a:srgbClr val="0F1F35"/>
                </a:solidFill>
              </a:rPr>
              <a:t>date, symbol, action, quantity, price</a:t>
            </a:r>
          </a:p>
          <a:p xmlns:a="http://schemas.openxmlformats.org/drawingml/2006/main">
            <a:pPr>
              <a:defRPr sz="1575" b="0">
                <a:solidFill>
                  <a:srgbClr val="0F1F35"/>
                </a:solidFill>
              </a:defRPr>
            </a:pPr>
            <a:r>
              <a:rPr sz="1575" b="0">
                <a:solidFill>
                  <a:srgbClr val="0F1F35"/>
                </a:solidFill>
              </a:rPr>
              <a:t>Optional: fees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0F1F35"/>
                </a:solidFill>
              </a:defRPr>
            </a:pPr>
            <a:r>
              <a:rPr sz="1575" b="0">
                <a:solidFill>
                  <a:srgbClr val="0F1F35"/>
                </a:solidFill>
              </a:rPr>
              <a:t>Actions are BUY or SELL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64ABA-498B-4EBA-B451-2705EE27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4762500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F5F8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9E8C7-FC4C-49E5-990E-6132743A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43125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B75BC"/>
                </a:solidFill>
              </a:defRPr>
            </a:pPr>
            <a:r>
              <a:rPr sz="1575" b="1">
                <a:solidFill>
                  <a:srgbClr val="1B75BC"/>
                </a:solidFill>
              </a:rPr>
              <a:t>Validation checks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F6CE84-C8EE-4ABA-82FB-03B215EF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098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B75BC"/>
                </a:solidFill>
              </a:defRPr>
            </a:pPr>
            <a:r>
              <a:rPr sz="1350" b="1">
                <a:solidFill>
                  <a:srgbClr val="1B75BC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1CA863-77B9-4098-91DF-2F81E521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09850"/>
            <a:ext cx="3676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F1F35"/>
                </a:solidFill>
              </a:defRPr>
            </a:pPr>
            <a:r>
              <a:rPr sz="1350" b="0">
                <a:solidFill>
                  <a:srgbClr val="0F1F35"/>
                </a:solidFill>
              </a:rPr>
              <a:t>Date format and future dates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AF5123-DAB9-4B92-9DFC-2CE9EEA7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480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B75BC"/>
                </a:solidFill>
              </a:defRPr>
            </a:pPr>
            <a:r>
              <a:rPr sz="1350" b="1">
                <a:solidFill>
                  <a:srgbClr val="1B75BC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D754DE-D05B-4FD9-ACB3-DEA74A72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48000"/>
            <a:ext cx="3676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F1F35"/>
                </a:solidFill>
              </a:defRPr>
            </a:pPr>
            <a:r>
              <a:rPr sz="1350" b="0">
                <a:solidFill>
                  <a:srgbClr val="0F1F35"/>
                </a:solidFill>
              </a:rPr>
              <a:t>Ticker formatting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FABE7B-BC80-498E-8951-C2B0F77D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861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B75BC"/>
                </a:solidFill>
              </a:defRPr>
            </a:pPr>
            <a:r>
              <a:rPr sz="1350" b="1">
                <a:solidFill>
                  <a:srgbClr val="1B75BC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BA775E-87E6-4F65-84E7-8F104F8B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86150"/>
            <a:ext cx="3676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F1F35"/>
                </a:solidFill>
              </a:defRPr>
            </a:pPr>
            <a:r>
              <a:rPr sz="1350" b="0">
                <a:solidFill>
                  <a:srgbClr val="0F1F35"/>
                </a:solidFill>
              </a:rPr>
              <a:t>Positive quantities and prices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FB545F-D227-4F39-9572-9B2F0790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243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B75BC"/>
                </a:solidFill>
              </a:defRPr>
            </a:pPr>
            <a:r>
              <a:rPr sz="1350" b="1">
                <a:solidFill>
                  <a:srgbClr val="1B75BC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BF6F61-73C5-4E6E-86C0-CFAF3957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24300"/>
            <a:ext cx="3676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F1F35"/>
                </a:solidFill>
              </a:defRPr>
            </a:pPr>
            <a:r>
              <a:rPr sz="1350" b="0">
                <a:solidFill>
                  <a:srgbClr val="0F1F35"/>
                </a:solidFill>
              </a:rPr>
              <a:t>Nonnegative fees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E2B46E-03C1-42C7-B552-AE2C90AC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624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B75BC"/>
                </a:solidFill>
              </a:defRPr>
            </a:pPr>
            <a:r>
              <a:rPr sz="1350" b="1">
                <a:solidFill>
                  <a:srgbClr val="1B75BC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513C9A-6AB3-4AD1-9516-EA111A9D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62450"/>
            <a:ext cx="3676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F1F35"/>
                </a:solidFill>
              </a:defRPr>
            </a:pPr>
            <a:r>
              <a:rPr sz="1350" b="0">
                <a:solidFill>
                  <a:srgbClr val="0F1F35"/>
                </a:solidFill>
              </a:rPr>
              <a:t>Sales cannot exceed shares owned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A1C940-EBD2-4A27-9F5F-64525868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4B607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B6075"/>
                </a:solidFill>
              </a:defRPr>
            </a:pPr>
            <a:r>
              <a:rPr sz="1350" b="0">
                <a:solidFill>
                  <a:srgbClr val="4B6075"/>
                </a:solidFill>
              </a:rPr>
              <a:t>Upload the file from the sidebar. The Transactions tab then shows the validated records and any errors appear before calculations run.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B4486A-3E01-420C-B290-00D3E0F6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750" b="0">
                <a:solidFill>
                  <a:srgbClr val="4B6075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4B6075"/>
                </a:solidFill>
              </a:defRPr>
            </a:pPr>
            <a:r>
              <a:rPr sz="750" b="0">
                <a:solidFill>
                  <a:srgbClr val="4B6075"/>
                </a:solidFill>
              </a:rPr>
              <a:t>Portfolio Lens walkthrough</a:t>
            </a:r>
          </a:p>
        </p:txBody>
      </p:sp>
    </p:spTree>
    <p:extLst>
      <p:ext uri="{BB962C8B-B14F-4D97-AF65-F5344CB8AC3E}">
        <p14:creationId xmlns:p14="http://schemas.microsoft.com/office/powerpoint/2010/main" val="201334892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AE8848-1486-48C7-BAD6-DB934B0C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B75BC"/>
                </a:solidFill>
              </a:defRPr>
            </a:pPr>
            <a:r>
              <a:rPr sz="900" b="1">
                <a:solidFill>
                  <a:srgbClr val="1B75BC"/>
                </a:solidFill>
              </a:rPr>
              <a:t>PORTFOLIO 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BCCDB-AFD7-4806-9A29-77A917D4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23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4B607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4B6075"/>
                </a:solidFill>
              </a:defRPr>
            </a:pPr>
            <a:r>
              <a:rPr sz="900" b="1">
                <a:solidFill>
                  <a:srgbClr val="4B6075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F5157-E474-4FEF-BD50-9273D617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625" b="1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F1F35"/>
                </a:solidFill>
              </a:defRPr>
            </a:pPr>
            <a:r>
              <a:rPr sz="2625" b="1">
                <a:solidFill>
                  <a:srgbClr val="0F1F35"/>
                </a:solidFill>
              </a:rPr>
              <a:t>Visualizations available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6E3FF-1495-432D-9A56-78B30231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4B607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B6075"/>
                </a:solidFill>
              </a:defRPr>
            </a:pPr>
            <a:r>
              <a:rPr sz="1350" b="0">
                <a:solidFill>
                  <a:srgbClr val="4B6075"/>
                </a:solidFill>
              </a:rPr>
              <a:t>The app gives the investor a current view and a performance 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6A615B-CEE3-4165-97CC-C9A9C145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095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F5F8F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6E3A7-1C8A-4928-AE80-96278641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B75BC"/>
                </a:solidFill>
              </a:defRPr>
            </a:pPr>
            <a:r>
              <a:rPr sz="1650" b="1">
                <a:solidFill>
                  <a:srgbClr val="1B75BC"/>
                </a:solidFill>
              </a:rPr>
              <a:t>Overview visuals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3087BF-D4D4-4223-95FC-953F954F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B75BC"/>
                </a:solidFill>
              </a:defRPr>
            </a:pPr>
            <a:r>
              <a:rPr sz="1350" b="1">
                <a:solidFill>
                  <a:srgbClr val="1B75BC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09FFB5-EA31-4605-A4B7-ACE4184E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8605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F1F35"/>
                </a:solidFill>
              </a:defRPr>
            </a:pPr>
            <a:r>
              <a:rPr sz="1350" b="0">
                <a:solidFill>
                  <a:srgbClr val="0F1F35"/>
                </a:solidFill>
              </a:rPr>
              <a:t>Top five holding chips with ticker and market value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47D97-2409-4789-BC3E-DAE8D632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B75BC"/>
                </a:solidFill>
              </a:defRPr>
            </a:pPr>
            <a:r>
              <a:rPr sz="1350" b="1">
                <a:solidFill>
                  <a:srgbClr val="1B75BC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96C452-8359-49CB-A450-590BF23B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4325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F1F35"/>
                </a:solidFill>
              </a:defRPr>
            </a:pPr>
            <a:r>
              <a:rPr sz="1350" b="0">
                <a:solidFill>
                  <a:srgbClr val="0F1F35"/>
                </a:solidFill>
              </a:rPr>
              <a:t>Horizontal top-five bar chart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20A6B-4932-488A-9E0B-41F3F177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B75BC"/>
                </a:solidFill>
              </a:defRPr>
            </a:pPr>
            <a:r>
              <a:rPr sz="1350" b="1">
                <a:solidFill>
                  <a:srgbClr val="1B75BC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DB946-1218-4A7D-A4A9-D306A439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0045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F1F35"/>
                </a:solidFill>
              </a:defRPr>
            </a:pPr>
            <a:r>
              <a:rPr sz="1350" b="0">
                <a:solidFill>
                  <a:srgbClr val="0F1F35"/>
                </a:solidFill>
              </a:rPr>
              <a:t>Allocation donut chart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5D1AF2-7024-4789-881C-DC951264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B75BC"/>
                </a:solidFill>
              </a:defRPr>
            </a:pPr>
            <a:r>
              <a:rPr sz="1350" b="1">
                <a:solidFill>
                  <a:srgbClr val="1B75BC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93F4CA-3A9F-42D7-B894-30924CA2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5765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F1F35"/>
                </a:solidFill>
              </a:defRPr>
            </a:pPr>
            <a:r>
              <a:rPr sz="1350" b="0">
                <a:solidFill>
                  <a:srgbClr val="0F1F35"/>
                </a:solidFill>
              </a:rPr>
              <a:t>Full holdings table with gains and cost basis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4DFD4A-F45D-429A-9E09-684A4EC7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461962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F5F8F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82B701-5997-48E2-B174-FCCCA605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1907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B75BC"/>
                </a:solidFill>
              </a:defRPr>
            </a:pPr>
            <a:r>
              <a:rPr sz="1650" b="1">
                <a:solidFill>
                  <a:srgbClr val="1B75BC"/>
                </a:solidFill>
              </a:rPr>
              <a:t>Performance visuals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C2BAD7-3F31-4B5C-8E33-8A96B3B0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6860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B75BC"/>
                </a:solidFill>
              </a:defRPr>
            </a:pPr>
            <a:r>
              <a:rPr sz="1350" b="1">
                <a:solidFill>
                  <a:srgbClr val="1B75BC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DCA974-8DCB-4D2A-8E8E-7E134E15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686050"/>
            <a:ext cx="3629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F1F35"/>
                </a:solidFill>
              </a:defRPr>
            </a:pPr>
            <a:r>
              <a:rPr sz="1350" b="0">
                <a:solidFill>
                  <a:srgbClr val="0F1F35"/>
                </a:solidFill>
              </a:rPr>
              <a:t>Metric cards for purchases, sale proceeds, return, and XIRR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2BDD91-392C-4098-B2B9-93D0E596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2289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B75BC"/>
                </a:solidFill>
              </a:defRPr>
            </a:pPr>
            <a:r>
              <a:rPr sz="1350" b="1">
                <a:solidFill>
                  <a:srgbClr val="1B75BC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40E9D2-ED94-44A2-9D7D-7E0AB981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228975"/>
            <a:ext cx="3629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F1F35"/>
                </a:solidFill>
              </a:defRPr>
            </a:pPr>
            <a:r>
              <a:rPr sz="1350" b="0">
                <a:solidFill>
                  <a:srgbClr val="0F1F35"/>
                </a:solidFill>
              </a:rPr>
              <a:t>Daily holdings value compared with cumulative net investment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F691B9-3CAE-440D-8AC3-A4594431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7719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B75BC"/>
                </a:solidFill>
              </a:defRPr>
            </a:pPr>
            <a:r>
              <a:rPr sz="1350" b="1">
                <a:solidFill>
                  <a:srgbClr val="1B75BC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31CF20-7795-40E4-B98D-6974F5D2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771900"/>
            <a:ext cx="3629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F1F35"/>
                </a:solidFill>
              </a:defRPr>
            </a:pPr>
            <a:r>
              <a:rPr sz="1350" b="0">
                <a:solidFill>
                  <a:srgbClr val="0F1F35"/>
                </a:solidFill>
              </a:rPr>
              <a:t>Offline demo chart of cumulative purchases and sale proceeds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661210-BBD2-4656-A09A-0C606B33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750" b="0">
                <a:solidFill>
                  <a:srgbClr val="4B6075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4B6075"/>
                </a:solidFill>
              </a:defRPr>
            </a:pPr>
            <a:r>
              <a:rPr sz="750" b="0">
                <a:solidFill>
                  <a:srgbClr val="4B6075"/>
                </a:solidFill>
              </a:rPr>
              <a:t>Portfolio Lens walkthrough</a:t>
            </a:r>
          </a:p>
        </p:txBody>
      </p:sp>
    </p:spTree>
    <p:extLst>
      <p:ext uri="{BB962C8B-B14F-4D97-AF65-F5344CB8AC3E}">
        <p14:creationId xmlns:p14="http://schemas.microsoft.com/office/powerpoint/2010/main" val="2865765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9911AC-4CFF-40E3-8D61-D5FF566B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B75BC"/>
                </a:solidFill>
              </a:defRPr>
            </a:pPr>
            <a:r>
              <a:rPr sz="900" b="1">
                <a:solidFill>
                  <a:srgbClr val="1B75BC"/>
                </a:solidFill>
              </a:rPr>
              <a:t>PORTFOLIO 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BB804-A100-4D8C-85D8-BD06CF2A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23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4B607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4B6075"/>
                </a:solidFill>
              </a:defRPr>
            </a:pPr>
            <a:r>
              <a:rPr sz="900" b="1">
                <a:solidFill>
                  <a:srgbClr val="4B6075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7A881-9362-4331-9F4F-1ABB419F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625" b="1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F1F35"/>
                </a:solidFill>
              </a:defRPr>
            </a:pPr>
            <a:r>
              <a:rPr sz="2625" b="1">
                <a:solidFill>
                  <a:srgbClr val="0F1F35"/>
                </a:solidFill>
              </a:rPr>
              <a:t>How to launch the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A097C-4F3C-438A-B954-4AD2E190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4B607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B6075"/>
                </a:solidFill>
              </a:defRPr>
            </a:pPr>
            <a:r>
              <a:rPr sz="1350" b="0">
                <a:solidFill>
                  <a:srgbClr val="4B6075"/>
                </a:solidFill>
              </a:rPr>
              <a:t>Run locally for desktop use, then deploy to Streamlit Community Cloud for a mobile-friendly link.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E94DBF-29E1-4E93-99C9-08272F60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19112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A4C"/>
          </a:solidFill>
          <a:ln xmlns:a="http://schemas.openxmlformats.org/drawingml/2006/main" w="0">
            <a:solidFill>
              <a:srgbClr val="0E2A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1292D-141B-4009-96DB-BB0864BA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4ED4E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4ED4E8"/>
                </a:solidFill>
              </a:defRPr>
            </a:pPr>
            <a:r>
              <a:rPr sz="1575" b="1">
                <a:solidFill>
                  <a:srgbClr val="4ED4E8"/>
                </a:solidFill>
              </a:rPr>
              <a:t>Local PowerShell commands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D2F31-E100-4A43-A654-9E526A74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428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python -m venv .venv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.\.venv\Scripts\python.exe -m pip install -r requirements.txt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.\.venv\Scripts\python.exe -m streamlit run app.py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C77F4-AD2B-47DA-9636-B70EC234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05000"/>
            <a:ext cx="4476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solidFill>
              <a:srgbClr val="EAF4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A9087-54E0-4E9C-91FE-FE6AB743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90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B75BC"/>
                </a:solidFill>
              </a:defRPr>
            </a:pPr>
            <a:r>
              <a:rPr sz="1575" b="1">
                <a:solidFill>
                  <a:srgbClr val="1B75BC"/>
                </a:solidFill>
              </a:rPr>
              <a:t>Use on a phone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5357D-8B9D-4748-8F23-B25A63E5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14625"/>
            <a:ext cx="3571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F1F35"/>
                </a:solidFill>
              </a:defRPr>
            </a:pPr>
            <a:r>
              <a:rPr sz="1350" b="0">
                <a:solidFill>
                  <a:srgbClr val="0F1F35"/>
                </a:solidFill>
              </a:rPr>
              <a:t>1. Push the full project to GitHub</a:t>
            </a:r>
          </a:p>
          <a:p xmlns:a="http://schemas.openxmlformats.org/drawingml/2006/main">
            <a:pPr>
              <a:defRPr sz="1350" b="0">
                <a:solidFill>
                  <a:srgbClr val="0F1F35"/>
                </a:solidFill>
              </a:defRPr>
            </a:pPr>
            <a:r>
              <a:rPr sz="1350" b="0">
                <a:solidFill>
                  <a:srgbClr val="0F1F35"/>
                </a:solidFill>
              </a:rPr>
              <a:t>2. Create an app at share.streamlit.io</a:t>
            </a:r>
          </a:p>
          <a:p xmlns:a="http://schemas.openxmlformats.org/drawingml/2006/main">
            <a:pPr>
              <a:defRPr sz="1350" b="0">
                <a:solidFill>
                  <a:srgbClr val="0F1F35"/>
                </a:solidFill>
              </a:defRPr>
            </a:pPr>
            <a:r>
              <a:rPr sz="1350" b="0">
                <a:solidFill>
                  <a:srgbClr val="0F1F35"/>
                </a:solidFill>
              </a:rPr>
              <a:t>3. Select app.py</a:t>
            </a:r>
          </a:p>
          <a:p xmlns:a="http://schemas.openxmlformats.org/drawingml/2006/main">
            <a:pPr>
              <a:defRPr sz="1350" b="0">
                <a:solidFill>
                  <a:srgbClr val="0F1F35"/>
                </a:solidFill>
              </a:defRPr>
            </a:pPr>
            <a:r>
              <a:rPr sz="1350" b="0">
                <a:solidFill>
                  <a:srgbClr val="0F1F35"/>
                </a:solidFill>
              </a:rPr>
              <a:t>4. Add secrets in App settings</a:t>
            </a:r>
          </a:p>
          <a:p xmlns:a="http://schemas.openxmlformats.org/drawingml/2006/main">
            <a:pPr>
              <a:defRPr sz="1350" b="0">
                <a:solidFill>
                  <a:srgbClr val="0F1F35"/>
                </a:solidFill>
              </a:defRPr>
            </a:pPr>
            <a:r>
              <a:rPr sz="1350" b="0">
                <a:solidFill>
                  <a:srgbClr val="0F1F35"/>
                </a:solidFill>
              </a:rPr>
              <a:t>5. Open the public streamlit.app URL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53F843-B0BD-4C35-B408-651F478D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4B607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B6075"/>
                </a:solidFill>
              </a:defRPr>
            </a:pPr>
            <a:r>
              <a:rPr sz="1350" b="0">
                <a:solidFill>
                  <a:srgbClr val="4B6075"/>
                </a:solidFill>
              </a:rPr>
              <a:t>localhost:8501 works only on the computer running Streamlit. A phone needs the deployed public URL.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68F337-0E42-41F0-9498-FED8B766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750" b="0">
                <a:solidFill>
                  <a:srgbClr val="4B6075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4B6075"/>
                </a:solidFill>
              </a:defRPr>
            </a:pPr>
            <a:r>
              <a:rPr sz="750" b="0">
                <a:solidFill>
                  <a:srgbClr val="4B6075"/>
                </a:solidFill>
              </a:rPr>
              <a:t>Portfolio Lens walkthrough</a:t>
            </a:r>
          </a:p>
        </p:txBody>
      </p:sp>
    </p:spTree>
    <p:extLst>
      <p:ext uri="{BB962C8B-B14F-4D97-AF65-F5344CB8AC3E}">
        <p14:creationId xmlns:p14="http://schemas.microsoft.com/office/powerpoint/2010/main" val="32497301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18E8BE-2078-4DF4-ACF7-ACDF4F26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B75BC"/>
                </a:solidFill>
              </a:defRPr>
            </a:pPr>
            <a:r>
              <a:rPr sz="900" b="1">
                <a:solidFill>
                  <a:srgbClr val="1B75BC"/>
                </a:solidFill>
              </a:rPr>
              <a:t>PORTFOLIO 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6F6A9-1AA1-4F1A-A17C-97A717CF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23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4B607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4B6075"/>
                </a:solidFill>
              </a:defRPr>
            </a:pPr>
            <a:r>
              <a:rPr sz="900" b="1">
                <a:solidFill>
                  <a:srgbClr val="4B6075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7FBB4-0F62-4244-AFD1-EE413A41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625" b="1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F1F35"/>
                </a:solidFill>
              </a:defRPr>
            </a:pPr>
            <a:r>
              <a:rPr sz="2625" b="1">
                <a:solidFill>
                  <a:srgbClr val="0F1F35"/>
                </a:solidFill>
              </a:rPr>
              <a:t>Secure Groq AI features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73048-AA2E-4AEB-8187-9BD05533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4B607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B6075"/>
                </a:solidFill>
              </a:defRPr>
            </a:pPr>
            <a:r>
              <a:rPr sz="1350" b="0">
                <a:solidFill>
                  <a:srgbClr val="4B6075"/>
                </a:solidFill>
              </a:rPr>
              <a:t>The Groq summary and chat are optional. The dashboard works without an API key.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448325-80DD-43FB-9687-2B8AA29E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810125" cy="293370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F5F8F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B043E-FE23-4F66-802F-81522545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02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B75BC"/>
                </a:solidFill>
              </a:defRPr>
            </a:pPr>
            <a:r>
              <a:rPr sz="1650" b="1">
                <a:solidFill>
                  <a:srgbClr val="1B75BC"/>
                </a:solidFill>
              </a:rPr>
              <a:t>Safe configuration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1CF02E-76A9-4E21-810B-61798D6E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B75BC"/>
                </a:solidFill>
              </a:defRPr>
            </a:pPr>
            <a:r>
              <a:rPr sz="1350" b="1">
                <a:solidFill>
                  <a:srgbClr val="1B75BC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776F70-9014-4F01-AE8C-9C82D776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0"/>
            <a:ext cx="38195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F1F35"/>
                </a:solidFill>
              </a:defRPr>
            </a:pPr>
            <a:r>
              <a:rPr sz="1350" b="0">
                <a:solidFill>
                  <a:srgbClr val="0F1F35"/>
                </a:solidFill>
              </a:rPr>
              <a:t>Keep GROQ_API_KEY out of GitHub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EB7F1-74BC-4ACA-9373-D43BD8D4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B75BC"/>
                </a:solidFill>
              </a:defRPr>
            </a:pPr>
            <a:r>
              <a:rPr sz="1350" b="1">
                <a:solidFill>
                  <a:srgbClr val="1B75BC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668303-AA3C-4C80-8656-FF7D55F0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24200"/>
            <a:ext cx="38195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F1F35"/>
                </a:solidFill>
              </a:defRPr>
            </a:pPr>
            <a:r>
              <a:rPr sz="1350" b="0">
                <a:solidFill>
                  <a:srgbClr val="0F1F35"/>
                </a:solidFill>
              </a:rPr>
              <a:t>Put .streamlit/secrets.toml in .gitignore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319D35-6C78-4502-AFA1-EF15284C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B75BC"/>
                </a:solidFill>
              </a:defRPr>
            </a:pPr>
            <a:r>
              <a:rPr sz="1350" b="1">
                <a:solidFill>
                  <a:srgbClr val="1B75BC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1411A8-EB42-4A21-87BD-7302AFFB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81400"/>
            <a:ext cx="38195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F1F35"/>
                </a:solidFill>
              </a:defRPr>
            </a:pPr>
            <a:r>
              <a:rPr sz="1350" b="0">
                <a:solidFill>
                  <a:srgbClr val="0F1F35"/>
                </a:solidFill>
              </a:rPr>
              <a:t>Add the key in Streamlit Cloud Secrets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15446A-8619-4DA3-843C-28864A8F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B75BC"/>
                </a:solidFill>
              </a:defRPr>
            </a:pPr>
            <a:r>
              <a:rPr sz="1350" b="1">
                <a:solidFill>
                  <a:srgbClr val="1B75BC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9DEB5-7CE6-4339-B387-1CA6FDEB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38600"/>
            <a:ext cx="38195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F1F35"/>
                </a:solidFill>
              </a:defRPr>
            </a:pPr>
            <a:r>
              <a:rPr sz="1350" b="0">
                <a:solidFill>
                  <a:srgbClr val="0F1F35"/>
                </a:solidFill>
              </a:rPr>
              <a:t>Revoke and replace any leaked key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BD0DF3-3E2F-471F-A4B6-8E3B41CF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43100"/>
            <a:ext cx="4857750" cy="293370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F5F8F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209A85-4615-43DF-8CA0-81BB0AB0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0027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1B75BC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B75BC"/>
                </a:solidFill>
              </a:defRPr>
            </a:pPr>
            <a:r>
              <a:rPr sz="1650" b="1">
                <a:solidFill>
                  <a:srgbClr val="1B75BC"/>
                </a:solidFill>
              </a:rPr>
              <a:t>What AI receives and returns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1ABCAD-3A18-4E29-AE09-A821BDC3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400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0F1F3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F1F35"/>
                </a:solidFill>
              </a:defRPr>
            </a:pPr>
            <a:r>
              <a:rPr sz="1350" b="0">
                <a:solidFill>
                  <a:srgbClr val="0F1F35"/>
                </a:solidFill>
              </a:rPr>
              <a:t>Only after a user asks for a summary or chat response, the app sends validated transactions and calculated context to Groq. The instructions limit answers to that context and require clear data limitations.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778D0E-62B6-4284-973E-0CB04E71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750" b="0">
                <a:solidFill>
                  <a:srgbClr val="4B6075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4B6075"/>
                </a:solidFill>
              </a:defRPr>
            </a:pPr>
            <a:r>
              <a:rPr sz="750" b="0">
                <a:solidFill>
                  <a:srgbClr val="4B6075"/>
                </a:solidFill>
              </a:rPr>
              <a:t>Portfolio Lens walkthrough</a:t>
            </a:r>
          </a:p>
        </p:txBody>
      </p:sp>
    </p:spTree>
    <p:extLst>
      <p:ext uri="{BB962C8B-B14F-4D97-AF65-F5344CB8AC3E}">
        <p14:creationId xmlns:p14="http://schemas.microsoft.com/office/powerpoint/2010/main" val="7428578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A1DEC-5D5B-4210-A22F-8643BC7A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1">
                <a:solidFill>
                  <a:srgbClr val="4ED4E8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4ED4E8"/>
                </a:solidFill>
              </a:defRPr>
            </a:pPr>
            <a:r>
              <a:rPr sz="975" b="1">
                <a:solidFill>
                  <a:srgbClr val="4ED4E8"/>
                </a:solidFill>
              </a:rPr>
              <a:t>DEMO 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CE2641-8BEB-4748-86CE-0ABDA442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Portfolio Lens makes transaction history usable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F36B4-EDF6-4D04-BBC0-1BDE24D2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C7D8E8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C7D8E8"/>
                </a:solidFill>
              </a:defRPr>
            </a:pPr>
            <a:r>
              <a:rPr sz="1725" b="0">
                <a:solidFill>
                  <a:srgbClr val="C7D8E8"/>
                </a:solidFill>
              </a:rPr>
              <a:t>Upload a CSV, inspect holdings and concentration, understand return calculations, and optionally ask the analyst questions grounded in your own portfolio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8478F-CEE3-4D2F-A3CC-90FEF0FD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0">
                <a:solidFill>
                  <a:srgbClr val="4ED4E8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ED4E8"/>
                </a:solidFill>
              </a:defRPr>
            </a:pPr>
            <a:r>
              <a:rPr sz="1500" b="0">
                <a:solidFill>
                  <a:srgbClr val="4ED4E8"/>
                </a:solidFill>
              </a:rPr>
              <a:t>Next step: upload the sample CSV, turn off the offline demo, and review the Overview tab.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224CA-FEA6-4CE1-82C2-C752CBCB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0">
                <a:solidFill>
                  <a:srgbClr val="C7D8E8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C7D8E8"/>
                </a:solidFill>
              </a:defRPr>
            </a:pPr>
            <a:r>
              <a:rPr sz="900" b="0">
                <a:solidFill>
                  <a:srgbClr val="C7D8E8"/>
                </a:solidFill>
              </a:rPr>
              <a:t>Portfolio Lens video presentation</a:t>
            </a:r>
          </a:p>
        </p:txBody>
      </p:sp>
    </p:spTree>
    <p:extLst>
      <p:ext uri="{BB962C8B-B14F-4D97-AF65-F5344CB8AC3E}">
        <p14:creationId xmlns:p14="http://schemas.microsoft.com/office/powerpoint/2010/main" val="12809318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2026-10-12T03:32:13.5700000Z</dcterms:created>
  <dcterms:modified xsi:type="dcterms:W3CDTF">2026-10-12T03:32:13.5700000Z</dcterms:modified>
</coreProperties>
</file>